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A10F"/>
    <a:srgbClr val="CC99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6:42:01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24575,'-2'138'0,"4"147"0,2-262 0,0-1 0,2 0 0,1 0 0,0 0 0,12 23 0,-1 0 0,-7-18 0,-2 1 0,-1 0 0,-1 0 0,-1 0 0,-2 1 0,1 44 0,9 100 0,-1 2 0,-11-147 0,1-1 0,1 1 0,15 47 0,-11-46 0,-1 0 0,-2 1 0,2 30 0,-6 202 91,-2-123-1547,1-115-5370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6:42:01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4093 2992 24463,'-4092'-2992'0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2B639-8E07-447E-8CDC-57FFFE073F58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E1175-1AEF-4592-8DA3-9E6AFBD2F3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554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1175-1AEF-4592-8DA3-9E6AFBD2F3F5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6293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B1644A-7C3E-5404-9CCB-4C875F44B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93B73C1-8EFB-333C-605D-26AC39781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FB8EBF-B890-C861-ABC8-40CC07D6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1DE1-4E98-4E9F-A2B8-043D899C4222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A38742-45D9-EA48-BFFA-08C50C9DE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1D7E41-7C56-F7B7-95C3-31F2F1A33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A373D-5BFF-4D7D-9C9F-066AFBD91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499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903447-B7CF-28CF-6916-B5C9BE8A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36B5E6-40A0-A0C1-03F0-D6052572F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452B0F-E220-DD32-80F5-00343F77D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1DE1-4E98-4E9F-A2B8-043D899C4222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7896C2-A555-2BBC-0FDD-6A6E72F0C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3A46D7-8E29-3D84-1013-8E20E6646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A373D-5BFF-4D7D-9C9F-066AFBD91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3985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4FE0D9-F9AE-00AA-FD65-9AB4F896F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6A60B77-0473-5D6D-DA80-6160EB4F3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E21936-C88A-7EB4-566E-264209241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1DE1-4E98-4E9F-A2B8-043D899C4222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C0446B-4149-EDD8-A500-3113DC48B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BE2CDE-6813-9499-B87A-082155721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A373D-5BFF-4D7D-9C9F-066AFBD91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2052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8CE775-9C36-D936-601B-C596D916A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736391-3D49-EB67-2005-B29EB8DF7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600757-803A-780B-B0BE-11440F54F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869060-3F70-364F-9812-841743042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1DE1-4E98-4E9F-A2B8-043D899C4222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6F6E18-3511-E775-DA40-FDC0C980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B95291-4B24-A913-8CF8-A7A75393D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A373D-5BFF-4D7D-9C9F-066AFBD91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9744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F78083-E7B9-2D1E-AA65-376E119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2CC3C8-A76E-FD7C-A78B-6C96E1BAC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D39C30-A1CB-41DE-5128-AE650AF5A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203D8A5-B5B8-0D1D-21CC-244E76F1AF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60D354D-0471-3D59-3FB7-5F92A9D4B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A167301-D6B4-A181-7D18-A59BEC17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1DE1-4E98-4E9F-A2B8-043D899C4222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87EFE9C-7469-64A8-1833-66F9DF64D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27D8682-A63E-DC50-7DC7-D94BC3A7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A373D-5BFF-4D7D-9C9F-066AFBD91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455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A4FFA4-9959-7248-8B7E-2C49C27EB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DA11C44-C956-1751-20DF-ABC8D842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1DE1-4E98-4E9F-A2B8-043D899C4222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5D35FFF-4888-32E8-3C76-AAFDACFD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B6AEF5F-CE71-F4CF-1CAC-C05F95EB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A373D-5BFF-4D7D-9C9F-066AFBD91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1347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A312647-0C8C-4438-5F56-6597E503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1DE1-4E98-4E9F-A2B8-043D899C4222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F02DF-2140-671F-DE60-B0AEEA508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AC056D-993D-D6DB-4F9E-F2F55B36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A373D-5BFF-4D7D-9C9F-066AFBD91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4369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D972D6-D3E0-F5DC-80DC-90CAB5ADD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31BC49-99AA-2AEC-1D66-2D12A1FA7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CD4AAB-12D4-F62F-1104-C0A4EB6FC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6E95F5-9432-8A4F-539F-5E92794F5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1DE1-4E98-4E9F-A2B8-043D899C4222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1A9C4A-FC7C-5462-8389-F961AFDF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0F5BF6-1A5A-465C-CB02-CCB83B7AC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A373D-5BFF-4D7D-9C9F-066AFBD91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2490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07DAB5-73A6-0218-8A78-C353E9EF8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19B2A2E-0A38-80C7-399F-6A99A8473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8569BD5-0678-3818-33FA-CFFDB60C8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B35B41-45A3-9706-6223-C2BB1B36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1DE1-4E98-4E9F-A2B8-043D899C4222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116EA4-DB93-DC00-D860-FE0DE2A72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FAEC40-DEF8-B844-D72F-F29869DC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A373D-5BFF-4D7D-9C9F-066AFBD91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6693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A9C640-E975-2763-DE69-46893ECE3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C75B5B-6628-48FF-4E1B-C2AFFBB8D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1FF4C6-DF1F-0AAC-39DD-3F69B4470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1DE1-4E98-4E9F-A2B8-043D899C4222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E08ECF-2D7A-1B99-E4E3-81FE20A79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C9AE44-73A3-7A6E-C8EA-3FCA063D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A373D-5BFF-4D7D-9C9F-066AFBD91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8433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4F211A8-24A0-5102-9F42-1368E46FB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59CFCF-F1D0-4DC7-65C2-0FCCD885C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2D515F-696C-CAAD-E55E-BBC305E4E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11DE1-4E98-4E9F-A2B8-043D899C4222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48958F-81FA-4584-9E20-9ED132EFC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38DCFC-5206-9A8D-73A3-5C19F729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A373D-5BFF-4D7D-9C9F-066AFBD91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393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B58E4F4-67B3-07D5-E709-A8ACF703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A425FE-A1FA-A4C9-48F9-431431344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001A6D-F3DA-8A09-0322-765E724BC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611DE1-4E98-4E9F-A2B8-043D899C4222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B4AD31-62E3-4E09-3DB4-CD27F3623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35909C-D1D3-E1A3-C54E-72E7F94EF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A373D-5BFF-4D7D-9C9F-066AFBD91C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101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4" Type="http://schemas.openxmlformats.org/officeDocument/2006/relationships/image" Target="../media/image4.sv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グラフィックス 6" descr="カメラ 単色塗りつぶし">
            <a:extLst>
              <a:ext uri="{FF2B5EF4-FFF2-40B4-BE49-F238E27FC236}">
                <a16:creationId xmlns:a16="http://schemas.microsoft.com/office/drawing/2014/main" id="{9DF5BC89-E890-1EF3-8E36-CF4A9B8D22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7911" y="1461795"/>
            <a:ext cx="698339" cy="698339"/>
          </a:xfrm>
          <a:prstGeom prst="rect">
            <a:avLst/>
          </a:prstGeom>
        </p:spPr>
      </p:pic>
      <p:pic>
        <p:nvPicPr>
          <p:cNvPr id="18" name="グラフィックス 17" descr="ボリューム 単色塗りつぶし">
            <a:extLst>
              <a:ext uri="{FF2B5EF4-FFF2-40B4-BE49-F238E27FC236}">
                <a16:creationId xmlns:a16="http://schemas.microsoft.com/office/drawing/2014/main" id="{EF55EC29-C899-3BD8-C855-1FBA17F22B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7913" y="3540663"/>
            <a:ext cx="698334" cy="698334"/>
          </a:xfrm>
          <a:prstGeom prst="rect">
            <a:avLst/>
          </a:prstGeom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F6B4072-D939-0E19-D8CA-FB952282117E}"/>
              </a:ext>
            </a:extLst>
          </p:cNvPr>
          <p:cNvSpPr/>
          <p:nvPr/>
        </p:nvSpPr>
        <p:spPr>
          <a:xfrm>
            <a:off x="7464549" y="1138732"/>
            <a:ext cx="3196873" cy="3144908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88E43F9-3153-D29E-B45E-E783B32DC7AF}"/>
              </a:ext>
            </a:extLst>
          </p:cNvPr>
          <p:cNvSpPr txBox="1"/>
          <p:nvPr/>
        </p:nvSpPr>
        <p:spPr>
          <a:xfrm>
            <a:off x="6628886" y="1573763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入力映像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13ED6AB-5DD3-D4A3-5D7D-F6E081D5CB25}"/>
              </a:ext>
            </a:extLst>
          </p:cNvPr>
          <p:cNvSpPr txBox="1"/>
          <p:nvPr/>
        </p:nvSpPr>
        <p:spPr>
          <a:xfrm>
            <a:off x="8061130" y="843147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喫煙予兆検知システム</a:t>
            </a:r>
            <a:endParaRPr kumimoji="1" lang="ja-JP" altLang="en-US" sz="14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4DBC74F-EC63-8268-3A44-129F3BB88D5C}"/>
              </a:ext>
            </a:extLst>
          </p:cNvPr>
          <p:cNvSpPr txBox="1"/>
          <p:nvPr/>
        </p:nvSpPr>
        <p:spPr>
          <a:xfrm>
            <a:off x="5770026" y="341887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スピーカー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8D31E5-A28D-E343-C4CD-AE1ECF2F16AC}"/>
              </a:ext>
            </a:extLst>
          </p:cNvPr>
          <p:cNvSpPr txBox="1"/>
          <p:nvPr/>
        </p:nvSpPr>
        <p:spPr>
          <a:xfrm>
            <a:off x="5705909" y="132329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撮影用カメラ</a:t>
            </a:r>
            <a:endParaRPr kumimoji="1" lang="ja-JP" altLang="en-US" sz="12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8504C92F-1DFC-C02B-3D61-4524BCDC6F13}"/>
              </a:ext>
            </a:extLst>
          </p:cNvPr>
          <p:cNvSpPr/>
          <p:nvPr/>
        </p:nvSpPr>
        <p:spPr>
          <a:xfrm>
            <a:off x="7583217" y="1385408"/>
            <a:ext cx="2935860" cy="851115"/>
          </a:xfrm>
          <a:prstGeom prst="roundRect">
            <a:avLst>
              <a:gd name="adj" fmla="val 17581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5AA521F-C7B1-38EF-D336-1E829BAA2CCC}"/>
              </a:ext>
            </a:extLst>
          </p:cNvPr>
          <p:cNvSpPr txBox="1"/>
          <p:nvPr/>
        </p:nvSpPr>
        <p:spPr>
          <a:xfrm>
            <a:off x="8689508" y="1150924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要素検出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E376896-BC0C-712A-70FE-CF6B6D66BC00}"/>
              </a:ext>
            </a:extLst>
          </p:cNvPr>
          <p:cNvSpPr txBox="1"/>
          <p:nvPr/>
        </p:nvSpPr>
        <p:spPr>
          <a:xfrm>
            <a:off x="6651502" y="3665894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喫煙検知</a:t>
            </a:r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B753B69B-9173-7115-F20A-F43B7FCC96BF}"/>
              </a:ext>
            </a:extLst>
          </p:cNvPr>
          <p:cNvGrpSpPr/>
          <p:nvPr/>
        </p:nvGrpSpPr>
        <p:grpSpPr>
          <a:xfrm>
            <a:off x="7770040" y="1479379"/>
            <a:ext cx="2562214" cy="643539"/>
            <a:chOff x="7072176" y="1975004"/>
            <a:chExt cx="2562214" cy="643539"/>
          </a:xfrm>
        </p:grpSpPr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9FE132B8-6408-85CA-157C-9E2A8685A3C1}"/>
                </a:ext>
              </a:extLst>
            </p:cNvPr>
            <p:cNvSpPr/>
            <p:nvPr/>
          </p:nvSpPr>
          <p:spPr>
            <a:xfrm>
              <a:off x="7072176" y="1975004"/>
              <a:ext cx="1205814" cy="643539"/>
            </a:xfrm>
            <a:prstGeom prst="roundRect">
              <a:avLst>
                <a:gd name="adj" fmla="val 26140"/>
              </a:avLst>
            </a:prstGeom>
            <a:noFill/>
            <a:ln w="127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喫煙器具検出</a:t>
              </a:r>
              <a:endParaRPr kumimoji="1"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kumimoji="1"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モジュール</a:t>
              </a:r>
            </a:p>
          </p:txBody>
        </p:sp>
        <p:sp>
          <p:nvSpPr>
            <p:cNvPr id="64" name="四角形: 角を丸くする 63">
              <a:extLst>
                <a:ext uri="{FF2B5EF4-FFF2-40B4-BE49-F238E27FC236}">
                  <a16:creationId xmlns:a16="http://schemas.microsoft.com/office/drawing/2014/main" id="{C5DEF37D-1D54-64B3-AB69-40BCE199B222}"/>
                </a:ext>
              </a:extLst>
            </p:cNvPr>
            <p:cNvSpPr/>
            <p:nvPr/>
          </p:nvSpPr>
          <p:spPr>
            <a:xfrm>
              <a:off x="8428576" y="1975004"/>
              <a:ext cx="1205814" cy="643539"/>
            </a:xfrm>
            <a:prstGeom prst="roundRect">
              <a:avLst>
                <a:gd name="adj" fmla="val 26140"/>
              </a:avLst>
            </a:prstGeom>
            <a:noFill/>
            <a:ln w="127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顔・口元推定</a:t>
              </a:r>
              <a:endParaRPr kumimoji="1"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kumimoji="1"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モジュール</a:t>
              </a:r>
            </a:p>
          </p:txBody>
        </p:sp>
      </p:grp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18AFA9EB-56B7-9BB8-0278-6C3DEA041D1B}"/>
              </a:ext>
            </a:extLst>
          </p:cNvPr>
          <p:cNvSpPr/>
          <p:nvPr/>
        </p:nvSpPr>
        <p:spPr>
          <a:xfrm>
            <a:off x="9126440" y="2571749"/>
            <a:ext cx="1205814" cy="643539"/>
          </a:xfrm>
          <a:prstGeom prst="roundRect">
            <a:avLst>
              <a:gd name="adj" fmla="val 26140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動的距離閾値</a:t>
            </a:r>
            <a:endParaRPr kumimoji="1" lang="en-US" altLang="ja-JP" sz="12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算出</a:t>
            </a:r>
            <a:endParaRPr kumimoji="1" lang="ja-JP" altLang="en-US" sz="12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94BE3546-C128-4DBD-B929-A395C238CD64}"/>
              </a:ext>
            </a:extLst>
          </p:cNvPr>
          <p:cNvSpPr/>
          <p:nvPr/>
        </p:nvSpPr>
        <p:spPr>
          <a:xfrm>
            <a:off x="7770040" y="3573713"/>
            <a:ext cx="2562213" cy="632234"/>
          </a:xfrm>
          <a:prstGeom prst="roundRect">
            <a:avLst>
              <a:gd name="adj" fmla="val 26140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三点近接判定</a:t>
            </a:r>
            <a:endParaRPr kumimoji="1" lang="en-US" altLang="ja-JP" sz="12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モジュール</a:t>
            </a:r>
            <a:endParaRPr kumimoji="1" lang="ja-JP" altLang="en-US" sz="12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F5E565B7-266E-B877-EF1E-AB231B05961C}"/>
              </a:ext>
            </a:extLst>
          </p:cNvPr>
          <p:cNvCxnSpPr>
            <a:cxnSpLocks/>
          </p:cNvCxnSpPr>
          <p:nvPr/>
        </p:nvCxnSpPr>
        <p:spPr>
          <a:xfrm>
            <a:off x="8326654" y="2236523"/>
            <a:ext cx="0" cy="1339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D73F9758-5832-F922-0706-634644F28313}"/>
              </a:ext>
            </a:extLst>
          </p:cNvPr>
          <p:cNvCxnSpPr>
            <a:cxnSpLocks/>
            <a:stCxn id="68" idx="2"/>
          </p:cNvCxnSpPr>
          <p:nvPr/>
        </p:nvCxnSpPr>
        <p:spPr>
          <a:xfrm>
            <a:off x="9729347" y="3215288"/>
            <a:ext cx="0" cy="360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52C748EF-BEBA-4551-6F83-CB764171AB34}"/>
              </a:ext>
            </a:extLst>
          </p:cNvPr>
          <p:cNvCxnSpPr>
            <a:stCxn id="64" idx="2"/>
            <a:endCxn id="68" idx="0"/>
          </p:cNvCxnSpPr>
          <p:nvPr/>
        </p:nvCxnSpPr>
        <p:spPr>
          <a:xfrm>
            <a:off x="9729347" y="2122918"/>
            <a:ext cx="0" cy="448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48F7C00A-7543-E7FE-C926-C15C9A63781D}"/>
              </a:ext>
            </a:extLst>
          </p:cNvPr>
          <p:cNvSpPr txBox="1"/>
          <p:nvPr/>
        </p:nvSpPr>
        <p:spPr>
          <a:xfrm>
            <a:off x="8275208" y="2806418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要素座標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75A879B7-C373-81DC-B863-0AD57D1B73CA}"/>
              </a:ext>
            </a:extLst>
          </p:cNvPr>
          <p:cNvSpPr txBox="1"/>
          <p:nvPr/>
        </p:nvSpPr>
        <p:spPr>
          <a:xfrm>
            <a:off x="9691142" y="2277178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顔幅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4251CA19-5E66-8C3E-42C1-BDD94FCB4127}"/>
              </a:ext>
            </a:extLst>
          </p:cNvPr>
          <p:cNvSpPr txBox="1"/>
          <p:nvPr/>
        </p:nvSpPr>
        <p:spPr>
          <a:xfrm>
            <a:off x="9691142" y="3267754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閾値</a:t>
            </a:r>
          </a:p>
        </p:txBody>
      </p: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0C1D9DA7-A98E-DE12-37FE-72EF704B013C}"/>
              </a:ext>
            </a:extLst>
          </p:cNvPr>
          <p:cNvCxnSpPr>
            <a:endCxn id="8" idx="1"/>
          </p:cNvCxnSpPr>
          <p:nvPr/>
        </p:nvCxnSpPr>
        <p:spPr>
          <a:xfrm>
            <a:off x="6596250" y="1801148"/>
            <a:ext cx="117379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線矢印コネクタ 89">
            <a:extLst>
              <a:ext uri="{FF2B5EF4-FFF2-40B4-BE49-F238E27FC236}">
                <a16:creationId xmlns:a16="http://schemas.microsoft.com/office/drawing/2014/main" id="{33CB3080-7753-8897-0C4C-C826EA4B296E}"/>
              </a:ext>
            </a:extLst>
          </p:cNvPr>
          <p:cNvCxnSpPr>
            <a:stCxn id="70" idx="1"/>
            <a:endCxn id="18" idx="3"/>
          </p:cNvCxnSpPr>
          <p:nvPr/>
        </p:nvCxnSpPr>
        <p:spPr>
          <a:xfrm flipH="1">
            <a:off x="6596247" y="3889830"/>
            <a:ext cx="1173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4" name="グラフィックス 113" descr="カメラ 単色塗りつぶし">
            <a:extLst>
              <a:ext uri="{FF2B5EF4-FFF2-40B4-BE49-F238E27FC236}">
                <a16:creationId xmlns:a16="http://schemas.microsoft.com/office/drawing/2014/main" id="{E940430F-473C-24E5-B9A6-A8462041A4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943" y="2516949"/>
            <a:ext cx="698339" cy="698339"/>
          </a:xfrm>
          <a:prstGeom prst="rect">
            <a:avLst/>
          </a:prstGeom>
        </p:spPr>
      </p:pic>
      <p:pic>
        <p:nvPicPr>
          <p:cNvPr id="115" name="グラフィックス 114" descr="ボリューム 単色塗りつぶし">
            <a:extLst>
              <a:ext uri="{FF2B5EF4-FFF2-40B4-BE49-F238E27FC236}">
                <a16:creationId xmlns:a16="http://schemas.microsoft.com/office/drawing/2014/main" id="{D354129B-B6BD-BA65-7DC9-8D462AC53C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945" y="4651697"/>
            <a:ext cx="698334" cy="698334"/>
          </a:xfrm>
          <a:prstGeom prst="rect">
            <a:avLst/>
          </a:prstGeom>
        </p:spPr>
      </p:pic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C1E197F0-4B15-90E6-1247-026C230F596F}"/>
              </a:ext>
            </a:extLst>
          </p:cNvPr>
          <p:cNvSpPr/>
          <p:nvPr/>
        </p:nvSpPr>
        <p:spPr>
          <a:xfrm>
            <a:off x="2163581" y="2193885"/>
            <a:ext cx="3196873" cy="3213899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AFA19275-D753-A3DF-BD2B-D922A3706B72}"/>
              </a:ext>
            </a:extLst>
          </p:cNvPr>
          <p:cNvSpPr txBox="1"/>
          <p:nvPr/>
        </p:nvSpPr>
        <p:spPr>
          <a:xfrm>
            <a:off x="579487" y="4524188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</a:t>
            </a:r>
            <a:endParaRPr kumimoji="1" lang="ja-JP" altLang="en-US" sz="1200" b="1" dirty="0">
              <a:latin typeface="Times New Roman" panose="02020603050405020304" pitchFamily="18" charset="0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E862A42A-9C69-608B-2952-0CCCC1E5968F}"/>
              </a:ext>
            </a:extLst>
          </p:cNvPr>
          <p:cNvSpPr txBox="1"/>
          <p:nvPr/>
        </p:nvSpPr>
        <p:spPr>
          <a:xfrm>
            <a:off x="587502" y="2378449"/>
            <a:ext cx="715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b="1" dirty="0"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Camera</a:t>
            </a:r>
            <a:endParaRPr kumimoji="1" lang="ja-JP" altLang="en-US" sz="1200" b="1" dirty="0">
              <a:latin typeface="Times New Roman" panose="02020603050405020304" pitchFamily="18" charset="0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sp>
        <p:nvSpPr>
          <p:cNvPr id="121" name="四角形: 角を丸くする 120">
            <a:extLst>
              <a:ext uri="{FF2B5EF4-FFF2-40B4-BE49-F238E27FC236}">
                <a16:creationId xmlns:a16="http://schemas.microsoft.com/office/drawing/2014/main" id="{8BF6F46E-E7CF-25F5-7038-F0C92E9BF0B1}"/>
              </a:ext>
            </a:extLst>
          </p:cNvPr>
          <p:cNvSpPr/>
          <p:nvPr/>
        </p:nvSpPr>
        <p:spPr>
          <a:xfrm>
            <a:off x="2282249" y="2440562"/>
            <a:ext cx="2935860" cy="851115"/>
          </a:xfrm>
          <a:prstGeom prst="roundRect">
            <a:avLst>
              <a:gd name="adj" fmla="val 17581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5A2CD9CF-1764-0B20-FA9D-37AECDA6A518}"/>
              </a:ext>
            </a:extLst>
          </p:cNvPr>
          <p:cNvSpPr txBox="1"/>
          <p:nvPr/>
        </p:nvSpPr>
        <p:spPr>
          <a:xfrm>
            <a:off x="3156723" y="2206071"/>
            <a:ext cx="12105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Detection</a:t>
            </a:r>
            <a:endParaRPr kumimoji="1" lang="ja-JP" altLang="en-US" sz="1050" b="1" dirty="0">
              <a:latin typeface="Times New Roman" panose="02020603050405020304" pitchFamily="18" charset="0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88F61A21-AA2C-087C-E746-9C71A17D7170}"/>
              </a:ext>
            </a:extLst>
          </p:cNvPr>
          <p:cNvSpPr txBox="1"/>
          <p:nvPr/>
        </p:nvSpPr>
        <p:spPr>
          <a:xfrm>
            <a:off x="1389988" y="4627313"/>
            <a:ext cx="70564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Smoking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kumimoji="1" lang="ja-JP" altLang="en-US" sz="1050" dirty="0">
              <a:latin typeface="Times New Roman" panose="02020603050405020304" pitchFamily="18" charset="0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grpSp>
        <p:nvGrpSpPr>
          <p:cNvPr id="124" name="グループ化 123">
            <a:extLst>
              <a:ext uri="{FF2B5EF4-FFF2-40B4-BE49-F238E27FC236}">
                <a16:creationId xmlns:a16="http://schemas.microsoft.com/office/drawing/2014/main" id="{C57A538D-4D18-3193-62E3-B6202BB6957B}"/>
              </a:ext>
            </a:extLst>
          </p:cNvPr>
          <p:cNvGrpSpPr/>
          <p:nvPr/>
        </p:nvGrpSpPr>
        <p:grpSpPr>
          <a:xfrm>
            <a:off x="2438592" y="2544350"/>
            <a:ext cx="2623174" cy="643539"/>
            <a:chOff x="7046776" y="1975004"/>
            <a:chExt cx="2623174" cy="643539"/>
          </a:xfrm>
        </p:grpSpPr>
        <p:sp>
          <p:nvSpPr>
            <p:cNvPr id="125" name="四角形: 角を丸くする 124">
              <a:extLst>
                <a:ext uri="{FF2B5EF4-FFF2-40B4-BE49-F238E27FC236}">
                  <a16:creationId xmlns:a16="http://schemas.microsoft.com/office/drawing/2014/main" id="{C91B15BC-F31A-61AB-2FDF-523816AD440E}"/>
                </a:ext>
              </a:extLst>
            </p:cNvPr>
            <p:cNvSpPr/>
            <p:nvPr/>
          </p:nvSpPr>
          <p:spPr>
            <a:xfrm>
              <a:off x="7046776" y="1975004"/>
              <a:ext cx="1273030" cy="643539"/>
            </a:xfrm>
            <a:prstGeom prst="roundRect">
              <a:avLst>
                <a:gd name="adj" fmla="val 26140"/>
              </a:avLst>
            </a:prstGeom>
            <a:noFill/>
            <a:ln w="127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Smoking Tool Detection Module</a:t>
              </a:r>
              <a:endParaRPr kumimoji="1" lang="ja-JP" altLang="en-US" sz="1200" dirty="0"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endParaRPr>
            </a:p>
          </p:txBody>
        </p:sp>
        <p:sp>
          <p:nvSpPr>
            <p:cNvPr id="126" name="四角形: 角を丸くする 125">
              <a:extLst>
                <a:ext uri="{FF2B5EF4-FFF2-40B4-BE49-F238E27FC236}">
                  <a16:creationId xmlns:a16="http://schemas.microsoft.com/office/drawing/2014/main" id="{9D3C4DC0-545B-3582-0CD8-167B90AE323A}"/>
                </a:ext>
              </a:extLst>
            </p:cNvPr>
            <p:cNvSpPr/>
            <p:nvPr/>
          </p:nvSpPr>
          <p:spPr>
            <a:xfrm>
              <a:off x="8392870" y="1975004"/>
              <a:ext cx="1277080" cy="643539"/>
            </a:xfrm>
            <a:prstGeom prst="roundRect">
              <a:avLst>
                <a:gd name="adj" fmla="val 26140"/>
              </a:avLst>
            </a:prstGeom>
            <a:noFill/>
            <a:ln w="127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Face and Mouth Estimation Module</a:t>
              </a:r>
              <a:endParaRPr kumimoji="1" lang="ja-JP" altLang="en-US" sz="1200" dirty="0"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127" name="四角形: 角を丸くする 126">
            <a:extLst>
              <a:ext uri="{FF2B5EF4-FFF2-40B4-BE49-F238E27FC236}">
                <a16:creationId xmlns:a16="http://schemas.microsoft.com/office/drawing/2014/main" id="{F2298E3F-FAC7-2EE6-B9D7-E3FA0F9471E4}"/>
              </a:ext>
            </a:extLst>
          </p:cNvPr>
          <p:cNvSpPr/>
          <p:nvPr/>
        </p:nvSpPr>
        <p:spPr>
          <a:xfrm>
            <a:off x="3784685" y="3626903"/>
            <a:ext cx="1277079" cy="775050"/>
          </a:xfrm>
          <a:prstGeom prst="roundRect">
            <a:avLst>
              <a:gd name="adj" fmla="val 26140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Threshold Calculation</a:t>
            </a:r>
            <a:endParaRPr kumimoji="1" lang="ja-JP" altLang="en-US" sz="1200" dirty="0">
              <a:latin typeface="Times New Roman" panose="02020603050405020304" pitchFamily="18" charset="0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sp>
        <p:nvSpPr>
          <p:cNvPr id="128" name="四角形: 角を丸くする 127">
            <a:extLst>
              <a:ext uri="{FF2B5EF4-FFF2-40B4-BE49-F238E27FC236}">
                <a16:creationId xmlns:a16="http://schemas.microsoft.com/office/drawing/2014/main" id="{00894622-BABE-1545-9DB0-356B4203726A}"/>
              </a:ext>
            </a:extLst>
          </p:cNvPr>
          <p:cNvSpPr/>
          <p:nvPr/>
        </p:nvSpPr>
        <p:spPr>
          <a:xfrm>
            <a:off x="2469072" y="4684747"/>
            <a:ext cx="2562213" cy="632234"/>
          </a:xfrm>
          <a:prstGeom prst="roundRect">
            <a:avLst>
              <a:gd name="adj" fmla="val 26140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Three-Point Proximity Evaluation Module</a:t>
            </a:r>
            <a:endParaRPr kumimoji="1" lang="ja-JP" altLang="en-US" sz="1200" dirty="0">
              <a:latin typeface="Times New Roman" panose="02020603050405020304" pitchFamily="18" charset="0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BBCC2930-55E5-4E11-D735-64D2A3B541D4}"/>
              </a:ext>
            </a:extLst>
          </p:cNvPr>
          <p:cNvCxnSpPr>
            <a:cxnSpLocks/>
          </p:cNvCxnSpPr>
          <p:nvPr/>
        </p:nvCxnSpPr>
        <p:spPr>
          <a:xfrm>
            <a:off x="3025686" y="3291677"/>
            <a:ext cx="0" cy="1393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F8080674-8BBB-071E-DE30-BF89E457C981}"/>
              </a:ext>
            </a:extLst>
          </p:cNvPr>
          <p:cNvSpPr txBox="1"/>
          <p:nvPr/>
        </p:nvSpPr>
        <p:spPr>
          <a:xfrm>
            <a:off x="2988245" y="3766340"/>
            <a:ext cx="83388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Coordinates</a:t>
            </a:r>
            <a:endParaRPr kumimoji="1" lang="ja-JP" altLang="en-US" sz="1050" dirty="0">
              <a:latin typeface="Times New Roman" panose="02020603050405020304" pitchFamily="18" charset="0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305AFB1E-20E0-56AC-67E7-0F888E4B54D1}"/>
              </a:ext>
            </a:extLst>
          </p:cNvPr>
          <p:cNvSpPr txBox="1"/>
          <p:nvPr/>
        </p:nvSpPr>
        <p:spPr>
          <a:xfrm>
            <a:off x="4381983" y="3299315"/>
            <a:ext cx="8066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Width</a:t>
            </a:r>
            <a:endParaRPr kumimoji="1" lang="ja-JP" altLang="en-US" sz="1050" dirty="0">
              <a:latin typeface="Times New Roman" panose="02020603050405020304" pitchFamily="18" charset="0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sp>
        <p:nvSpPr>
          <p:cNvPr id="134" name="テキスト ボックス 133">
            <a:extLst>
              <a:ext uri="{FF2B5EF4-FFF2-40B4-BE49-F238E27FC236}">
                <a16:creationId xmlns:a16="http://schemas.microsoft.com/office/drawing/2014/main" id="{E62B514C-60B7-AA54-A82C-6CF6A6EC3816}"/>
              </a:ext>
            </a:extLst>
          </p:cNvPr>
          <p:cNvSpPr txBox="1"/>
          <p:nvPr/>
        </p:nvSpPr>
        <p:spPr>
          <a:xfrm>
            <a:off x="4381983" y="4416392"/>
            <a:ext cx="7296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</a:t>
            </a:r>
            <a:endParaRPr kumimoji="1" lang="ja-JP" altLang="en-US" sz="1050" dirty="0">
              <a:latin typeface="Times New Roman" panose="02020603050405020304" pitchFamily="18" charset="0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cxnSp>
        <p:nvCxnSpPr>
          <p:cNvPr id="135" name="直線矢印コネクタ 134">
            <a:extLst>
              <a:ext uri="{FF2B5EF4-FFF2-40B4-BE49-F238E27FC236}">
                <a16:creationId xmlns:a16="http://schemas.microsoft.com/office/drawing/2014/main" id="{459AF1B3-FAEA-BDAB-B909-6F8D27806C06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1295282" y="2864932"/>
            <a:ext cx="1143310" cy="1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3481A6A1-CEC8-03EF-37C1-F51C383ECE3B}"/>
              </a:ext>
            </a:extLst>
          </p:cNvPr>
          <p:cNvCxnSpPr>
            <a:cxnSpLocks/>
            <a:stCxn id="128" idx="1"/>
            <a:endCxn id="115" idx="3"/>
          </p:cNvCxnSpPr>
          <p:nvPr/>
        </p:nvCxnSpPr>
        <p:spPr>
          <a:xfrm flipH="1">
            <a:off x="1295279" y="5000864"/>
            <a:ext cx="1173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69011615-13BF-FD14-DF30-06BDADDDCC36}"/>
              </a:ext>
            </a:extLst>
          </p:cNvPr>
          <p:cNvSpPr txBox="1"/>
          <p:nvPr/>
        </p:nvSpPr>
        <p:spPr>
          <a:xfrm>
            <a:off x="2229418" y="1878470"/>
            <a:ext cx="306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Smoking Prediction Detection System</a:t>
            </a:r>
            <a:endParaRPr kumimoji="1" lang="ja-JP" altLang="en-US" sz="1400" b="1" dirty="0">
              <a:latin typeface="Times New Roman" panose="02020603050405020304" pitchFamily="18" charset="0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3A4CADE8-60EA-EBCB-4A73-90061F0CEDF0}"/>
              </a:ext>
            </a:extLst>
          </p:cNvPr>
          <p:cNvSpPr txBox="1"/>
          <p:nvPr/>
        </p:nvSpPr>
        <p:spPr>
          <a:xfrm>
            <a:off x="1274424" y="2629316"/>
            <a:ext cx="8098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</a:t>
            </a:r>
            <a:endParaRPr kumimoji="1" lang="ja-JP" altLang="en-US" sz="1000" b="1" dirty="0">
              <a:latin typeface="Times New Roman" panose="02020603050405020304" pitchFamily="18" charset="0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cxnSp>
        <p:nvCxnSpPr>
          <p:cNvPr id="155" name="直線矢印コネクタ 154">
            <a:extLst>
              <a:ext uri="{FF2B5EF4-FFF2-40B4-BE49-F238E27FC236}">
                <a16:creationId xmlns:a16="http://schemas.microsoft.com/office/drawing/2014/main" id="{5C0E65F5-5158-AD1E-F202-CB9985729EE4}"/>
              </a:ext>
            </a:extLst>
          </p:cNvPr>
          <p:cNvCxnSpPr>
            <a:cxnSpLocks/>
            <a:stCxn id="126" idx="2"/>
            <a:endCxn id="127" idx="0"/>
          </p:cNvCxnSpPr>
          <p:nvPr/>
        </p:nvCxnSpPr>
        <p:spPr>
          <a:xfrm flipH="1">
            <a:off x="4423225" y="3187889"/>
            <a:ext cx="1" cy="439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直線矢印コネクタ 158">
            <a:extLst>
              <a:ext uri="{FF2B5EF4-FFF2-40B4-BE49-F238E27FC236}">
                <a16:creationId xmlns:a16="http://schemas.microsoft.com/office/drawing/2014/main" id="{D5E9C7D8-C7A1-3735-BB7E-8F84ACF02ED0}"/>
              </a:ext>
            </a:extLst>
          </p:cNvPr>
          <p:cNvCxnSpPr>
            <a:cxnSpLocks/>
            <a:stCxn id="127" idx="2"/>
          </p:cNvCxnSpPr>
          <p:nvPr/>
        </p:nvCxnSpPr>
        <p:spPr>
          <a:xfrm>
            <a:off x="4423225" y="4401953"/>
            <a:ext cx="0" cy="282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551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ハンガー, ネックレス, 水, ランプ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30D0728-2442-B85E-AF61-6541791F95D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000" t="8750" r="42125" b="8979"/>
          <a:stretch>
            <a:fillRect/>
          </a:stretch>
        </p:blipFill>
        <p:spPr>
          <a:xfrm flipH="1">
            <a:off x="1238119" y="748283"/>
            <a:ext cx="2057400" cy="5471161"/>
          </a:xfrm>
          <a:prstGeom prst="rect">
            <a:avLst/>
          </a:prstGeom>
        </p:spPr>
      </p:pic>
      <p:pic>
        <p:nvPicPr>
          <p:cNvPr id="15" name="グラフィックス 14" descr="火 枠線">
            <a:extLst>
              <a:ext uri="{FF2B5EF4-FFF2-40B4-BE49-F238E27FC236}">
                <a16:creationId xmlns:a16="http://schemas.microsoft.com/office/drawing/2014/main" id="{F3AE6EE1-D9EC-6028-FEA7-F606201E4B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5260" y="3594433"/>
            <a:ext cx="1263718" cy="1263718"/>
          </a:xfrm>
          <a:prstGeom prst="rect">
            <a:avLst/>
          </a:prstGeom>
        </p:spPr>
      </p:pic>
      <p:sp>
        <p:nvSpPr>
          <p:cNvPr id="18" name="フローチャート: 結合子 17">
            <a:extLst>
              <a:ext uri="{FF2B5EF4-FFF2-40B4-BE49-F238E27FC236}">
                <a16:creationId xmlns:a16="http://schemas.microsoft.com/office/drawing/2014/main" id="{4D2CA9BD-12AF-464C-7A2E-B4751F294749}"/>
              </a:ext>
            </a:extLst>
          </p:cNvPr>
          <p:cNvSpPr/>
          <p:nvPr/>
        </p:nvSpPr>
        <p:spPr>
          <a:xfrm>
            <a:off x="2535763" y="4407365"/>
            <a:ext cx="285750" cy="285750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フローチャート: 結合子 18">
            <a:extLst>
              <a:ext uri="{FF2B5EF4-FFF2-40B4-BE49-F238E27FC236}">
                <a16:creationId xmlns:a16="http://schemas.microsoft.com/office/drawing/2014/main" id="{C1D0012F-3C84-995A-563F-5A9D2904C252}"/>
              </a:ext>
            </a:extLst>
          </p:cNvPr>
          <p:cNvSpPr/>
          <p:nvPr/>
        </p:nvSpPr>
        <p:spPr>
          <a:xfrm>
            <a:off x="5611864" y="4407365"/>
            <a:ext cx="285750" cy="285750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フローチャート: 結合子 19">
            <a:extLst>
              <a:ext uri="{FF2B5EF4-FFF2-40B4-BE49-F238E27FC236}">
                <a16:creationId xmlns:a16="http://schemas.microsoft.com/office/drawing/2014/main" id="{64136974-5D41-2648-268C-92A4D05ECB5F}"/>
              </a:ext>
            </a:extLst>
          </p:cNvPr>
          <p:cNvSpPr/>
          <p:nvPr/>
        </p:nvSpPr>
        <p:spPr>
          <a:xfrm>
            <a:off x="8569834" y="4407365"/>
            <a:ext cx="285750" cy="285750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FE11DC87-125D-BAC2-13D9-770F5E6E0D63}"/>
                  </a:ext>
                </a:extLst>
              </p:cNvPr>
              <p:cNvSpPr txBox="1"/>
              <p:nvPr/>
            </p:nvSpPr>
            <p:spPr>
              <a:xfrm>
                <a:off x="953352" y="4070168"/>
                <a:ext cx="134100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𝑚𝑜𝑢𝑡h</m:t>
                          </m:r>
                        </m:sub>
                      </m:sSub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FE11DC87-125D-BAC2-13D9-770F5E6E0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352" y="4070168"/>
                <a:ext cx="134100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284E00CB-6D79-E7CE-3DD1-E828F1FDBA5D}"/>
                  </a:ext>
                </a:extLst>
              </p:cNvPr>
              <p:cNvSpPr txBox="1"/>
              <p:nvPr/>
            </p:nvSpPr>
            <p:spPr>
              <a:xfrm>
                <a:off x="5009230" y="3773548"/>
                <a:ext cx="888384" cy="5582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𝑐𝑖𝑔</m:t>
                          </m:r>
                        </m:sub>
                      </m:sSub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284E00CB-6D79-E7CE-3DD1-E828F1FDB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230" y="3773548"/>
                <a:ext cx="888384" cy="5582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1FDEFCDD-4E4C-5954-770D-B725FEA80E16}"/>
                  </a:ext>
                </a:extLst>
              </p:cNvPr>
              <p:cNvSpPr txBox="1"/>
              <p:nvPr/>
            </p:nvSpPr>
            <p:spPr>
              <a:xfrm>
                <a:off x="9032869" y="3914187"/>
                <a:ext cx="1003160" cy="5577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𝑓𝑖𝑟𝑒</m:t>
                          </m:r>
                        </m:sub>
                      </m:sSub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1FDEFCDD-4E4C-5954-770D-B725FEA80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869" y="3914187"/>
                <a:ext cx="1003160" cy="5577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EED970B4-0767-8317-E961-408CAAB19F57}"/>
              </a:ext>
            </a:extLst>
          </p:cNvPr>
          <p:cNvCxnSpPr>
            <a:cxnSpLocks/>
          </p:cNvCxnSpPr>
          <p:nvPr/>
        </p:nvCxnSpPr>
        <p:spPr>
          <a:xfrm>
            <a:off x="2702358" y="5639686"/>
            <a:ext cx="30316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8936E37D-4FE0-5F27-5DEF-8A59293AEE08}"/>
              </a:ext>
            </a:extLst>
          </p:cNvPr>
          <p:cNvGrpSpPr/>
          <p:nvPr/>
        </p:nvGrpSpPr>
        <p:grpSpPr>
          <a:xfrm>
            <a:off x="4265792" y="4353305"/>
            <a:ext cx="2977895" cy="400447"/>
            <a:chOff x="4267202" y="3929319"/>
            <a:chExt cx="2977895" cy="400447"/>
          </a:xfrm>
        </p:grpSpPr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D252C676-4CBB-483C-68B1-9218112C3E11}"/>
                </a:ext>
              </a:extLst>
            </p:cNvPr>
            <p:cNvCxnSpPr>
              <a:cxnSpLocks/>
            </p:cNvCxnSpPr>
            <p:nvPr/>
          </p:nvCxnSpPr>
          <p:spPr>
            <a:xfrm>
              <a:off x="4879340" y="3929319"/>
              <a:ext cx="0" cy="393870"/>
            </a:xfrm>
            <a:prstGeom prst="line">
              <a:avLst/>
            </a:prstGeom>
            <a:ln w="38100">
              <a:solidFill>
                <a:schemeClr val="bg2">
                  <a:lumMod val="10000"/>
                </a:schemeClr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id="{41139CD2-5112-1453-78C1-73CFF39D7627}"/>
                </a:ext>
              </a:extLst>
            </p:cNvPr>
            <p:cNvCxnSpPr>
              <a:cxnSpLocks/>
            </p:cNvCxnSpPr>
            <p:nvPr/>
          </p:nvCxnSpPr>
          <p:spPr>
            <a:xfrm>
              <a:off x="7001510" y="3929319"/>
              <a:ext cx="0" cy="400447"/>
            </a:xfrm>
            <a:prstGeom prst="line">
              <a:avLst/>
            </a:prstGeom>
            <a:ln w="38100">
              <a:solidFill>
                <a:schemeClr val="bg2">
                  <a:lumMod val="10000"/>
                </a:schemeClr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0DF426E4-ECCF-D3D6-2CB7-367EA5C0EE60}"/>
                </a:ext>
              </a:extLst>
            </p:cNvPr>
            <p:cNvSpPr/>
            <p:nvPr/>
          </p:nvSpPr>
          <p:spPr>
            <a:xfrm>
              <a:off x="4267202" y="3929319"/>
              <a:ext cx="2977895" cy="393870"/>
            </a:xfrm>
            <a:prstGeom prst="rect">
              <a:avLst/>
            </a:prstGeom>
            <a:noFill/>
            <a:ln w="38100" cap="flat" cmpd="sng" algn="ctr">
              <a:solidFill>
                <a:schemeClr val="bg2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1EEFD4CE-F436-CD8B-EBED-6541055C0E7C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2678638" y="4693115"/>
            <a:ext cx="0" cy="11912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622A6BA1-2480-2544-9234-4697AB22643B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5754739" y="4693115"/>
            <a:ext cx="0" cy="12017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518C3B98-0082-81D9-754E-55D3120C454F}"/>
              </a:ext>
            </a:extLst>
          </p:cNvPr>
          <p:cNvCxnSpPr>
            <a:stCxn id="20" idx="4"/>
          </p:cNvCxnSpPr>
          <p:nvPr/>
        </p:nvCxnSpPr>
        <p:spPr>
          <a:xfrm>
            <a:off x="8712709" y="4693115"/>
            <a:ext cx="0" cy="11865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6E00B33B-644B-C012-A57B-ED0C3034DAB3}"/>
              </a:ext>
            </a:extLst>
          </p:cNvPr>
          <p:cNvCxnSpPr>
            <a:cxnSpLocks/>
          </p:cNvCxnSpPr>
          <p:nvPr/>
        </p:nvCxnSpPr>
        <p:spPr>
          <a:xfrm flipV="1">
            <a:off x="5781040" y="5620622"/>
            <a:ext cx="2890520" cy="190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023FDA84-841E-07FB-3815-7BEE525E9974}"/>
                  </a:ext>
                </a:extLst>
              </p:cNvPr>
              <p:cNvSpPr txBox="1"/>
              <p:nvPr/>
            </p:nvSpPr>
            <p:spPr>
              <a:xfrm>
                <a:off x="3149076" y="5639686"/>
                <a:ext cx="2233432" cy="5181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ja-JP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ja-JP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𝑚𝑜𝑢𝑡h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ja-JP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𝑐𝑖𝑔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ja-JP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023FDA84-841E-07FB-3815-7BEE525E9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076" y="5639686"/>
                <a:ext cx="2233432" cy="51815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7FF99D8B-6B0C-1954-380F-81B501DAE6A5}"/>
                  </a:ext>
                </a:extLst>
              </p:cNvPr>
              <p:cNvSpPr txBox="1"/>
              <p:nvPr/>
            </p:nvSpPr>
            <p:spPr>
              <a:xfrm>
                <a:off x="6272812" y="5607944"/>
                <a:ext cx="1941750" cy="5181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ja-JP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ja-JP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𝑓𝑖𝑟𝑒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ja-JP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𝑐𝑖𝑔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ja-JP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7FF99D8B-6B0C-1954-380F-81B501DAE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812" y="5607944"/>
                <a:ext cx="1941750" cy="51815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フローチャート: 結合子 81">
            <a:extLst>
              <a:ext uri="{FF2B5EF4-FFF2-40B4-BE49-F238E27FC236}">
                <a16:creationId xmlns:a16="http://schemas.microsoft.com/office/drawing/2014/main" id="{9C2158CF-27A7-1E64-3847-C12DDE3B8283}"/>
              </a:ext>
            </a:extLst>
          </p:cNvPr>
          <p:cNvSpPr/>
          <p:nvPr/>
        </p:nvSpPr>
        <p:spPr>
          <a:xfrm>
            <a:off x="2329406" y="1089155"/>
            <a:ext cx="6809740" cy="6809740"/>
          </a:xfrm>
          <a:prstGeom prst="flowChartConnector">
            <a:avLst/>
          </a:prstGeom>
          <a:noFill/>
          <a:ln w="38100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32B90F7D-DCDA-ECCE-9B8B-1D22B310C1F5}"/>
              </a:ext>
            </a:extLst>
          </p:cNvPr>
          <p:cNvCxnSpPr>
            <a:cxnSpLocks/>
          </p:cNvCxnSpPr>
          <p:nvPr/>
        </p:nvCxnSpPr>
        <p:spPr>
          <a:xfrm flipV="1">
            <a:off x="5754739" y="2819400"/>
            <a:ext cx="2916821" cy="17308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A6F1601C-5BB5-F3AB-869C-6021E06C50C4}"/>
                  </a:ext>
                </a:extLst>
              </p:cNvPr>
              <p:cNvSpPr txBox="1"/>
              <p:nvPr/>
            </p:nvSpPr>
            <p:spPr>
              <a:xfrm>
                <a:off x="6310637" y="2838878"/>
                <a:ext cx="1599092" cy="5572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ja-JP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ja-JP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𝑑𝑦𝑛𝑎𝑚𝑖𝑐</m:t>
                          </m:r>
                        </m:sub>
                      </m:sSub>
                    </m:oMath>
                  </m:oMathPara>
                </a14:m>
                <a:endParaRPr kumimoji="1" lang="ja-JP" altLang="en-US" sz="28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A6F1601C-5BB5-F3AB-869C-6021E06C5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637" y="2838878"/>
                <a:ext cx="1599092" cy="5572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9AF57D66-4233-9BA7-0F5E-FB163E2F2B89}"/>
              </a:ext>
            </a:extLst>
          </p:cNvPr>
          <p:cNvSpPr txBox="1"/>
          <p:nvPr/>
        </p:nvSpPr>
        <p:spPr>
          <a:xfrm>
            <a:off x="4862359" y="700159"/>
            <a:ext cx="1681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solidFill>
                  <a:srgbClr val="FF0000"/>
                </a:solidFill>
                <a:latin typeface="Times New Roman" panose="02020603050405020304" pitchFamily="18" charset="0"/>
                <a:ea typeface="游ゴシック" panose="020B0400000000000000" pitchFamily="50" charset="-128"/>
                <a:cs typeface="Times New Roman" panose="02020603050405020304" pitchFamily="18" charset="0"/>
              </a:rPr>
              <a:t>Scope of DDT</a:t>
            </a:r>
            <a:endParaRPr kumimoji="1" lang="ja-JP" altLang="en-US" sz="2000" dirty="0">
              <a:solidFill>
                <a:srgbClr val="FF0000"/>
              </a:solidFill>
              <a:latin typeface="Times New Roman" panose="02020603050405020304" pitchFamily="18" charset="0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864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26AAD5A-AC02-3971-935E-26F7B492A4EF}"/>
              </a:ext>
            </a:extLst>
          </p:cNvPr>
          <p:cNvSpPr/>
          <p:nvPr/>
        </p:nvSpPr>
        <p:spPr>
          <a:xfrm>
            <a:off x="4963249" y="2381142"/>
            <a:ext cx="1454198" cy="643539"/>
          </a:xfrm>
          <a:prstGeom prst="roundRect">
            <a:avLst>
              <a:gd name="adj" fmla="val 26140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➀赤色抽出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C575AFC1-9A60-F11E-FA32-91B30CA4685C}"/>
              </a:ext>
            </a:extLst>
          </p:cNvPr>
          <p:cNvSpPr/>
          <p:nvPr/>
        </p:nvSpPr>
        <p:spPr>
          <a:xfrm>
            <a:off x="4963249" y="3299758"/>
            <a:ext cx="1454198" cy="643539"/>
          </a:xfrm>
          <a:prstGeom prst="roundRect">
            <a:avLst>
              <a:gd name="adj" fmla="val 26140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➁横線排除</a:t>
            </a:r>
            <a:endParaRPr kumimoji="1" lang="ja-JP" altLang="en-US" sz="12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DB2447BD-8B9A-38A9-D28C-B2EB44E491BE}"/>
              </a:ext>
            </a:extLst>
          </p:cNvPr>
          <p:cNvSpPr/>
          <p:nvPr/>
        </p:nvSpPr>
        <p:spPr>
          <a:xfrm>
            <a:off x="4963249" y="4310475"/>
            <a:ext cx="1454198" cy="643539"/>
          </a:xfrm>
          <a:prstGeom prst="roundRect">
            <a:avLst>
              <a:gd name="adj" fmla="val 26140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➂溝の検出</a:t>
            </a:r>
            <a:endParaRPr kumimoji="1" lang="ja-JP" altLang="en-US" sz="12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DE5554AC-13F1-1682-AA1F-A236A7828A59}"/>
              </a:ext>
            </a:extLst>
          </p:cNvPr>
          <p:cNvSpPr/>
          <p:nvPr/>
        </p:nvSpPr>
        <p:spPr>
          <a:xfrm>
            <a:off x="4969036" y="5298808"/>
            <a:ext cx="1454198" cy="643539"/>
          </a:xfrm>
          <a:prstGeom prst="roundRect">
            <a:avLst>
              <a:gd name="adj" fmla="val 26140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靴底マップ生成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BA967E7-FAF6-5C6F-82C4-EBC8B66A9FA4}"/>
              </a:ext>
            </a:extLst>
          </p:cNvPr>
          <p:cNvSpPr/>
          <p:nvPr/>
        </p:nvSpPr>
        <p:spPr>
          <a:xfrm>
            <a:off x="2781953" y="2381142"/>
            <a:ext cx="1454198" cy="643539"/>
          </a:xfrm>
          <a:prstGeom prst="roundRect">
            <a:avLst>
              <a:gd name="adj" fmla="val 26140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Tilt</a:t>
            </a:r>
            <a:r>
              <a:rPr kumimoji="1"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スキャン</a:t>
            </a:r>
            <a:br>
              <a:rPr kumimoji="1"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kumimoji="1"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Pan</a:t>
            </a:r>
            <a:r>
              <a:rPr kumimoji="1"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スキャン</a:t>
            </a:r>
            <a:endParaRPr kumimoji="1" lang="en-US" altLang="ja-JP" sz="12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画像取得</a:t>
            </a:r>
            <a:endParaRPr kumimoji="1" lang="ja-JP" altLang="en-US" sz="12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B0DF80BD-8CFC-709C-BF2C-A7836F32FE32}"/>
              </a:ext>
            </a:extLst>
          </p:cNvPr>
          <p:cNvSpPr/>
          <p:nvPr/>
        </p:nvSpPr>
        <p:spPr>
          <a:xfrm>
            <a:off x="600656" y="2358732"/>
            <a:ext cx="1454198" cy="643539"/>
          </a:xfrm>
          <a:prstGeom prst="roundRect">
            <a:avLst>
              <a:gd name="adj" fmla="val 26140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クロスラインレーザー＋　サーボ二台</a:t>
            </a: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1D961243-AAA0-90D3-1C0B-4A33546E6429}"/>
              </a:ext>
            </a:extLst>
          </p:cNvPr>
          <p:cNvSpPr/>
          <p:nvPr/>
        </p:nvSpPr>
        <p:spPr>
          <a:xfrm>
            <a:off x="600656" y="1243744"/>
            <a:ext cx="1454198" cy="643539"/>
          </a:xfrm>
          <a:prstGeom prst="roundRect">
            <a:avLst>
              <a:gd name="adj" fmla="val 26140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Arduino</a:t>
            </a:r>
            <a:endParaRPr kumimoji="1" lang="ja-JP" altLang="en-US" sz="12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72A4672D-9896-6130-4725-3CDF230BCA5B}"/>
              </a:ext>
            </a:extLst>
          </p:cNvPr>
          <p:cNvSpPr/>
          <p:nvPr/>
        </p:nvSpPr>
        <p:spPr>
          <a:xfrm>
            <a:off x="600656" y="3105607"/>
            <a:ext cx="1454198" cy="643539"/>
          </a:xfrm>
          <a:prstGeom prst="roundRect">
            <a:avLst>
              <a:gd name="adj" fmla="val 26140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クロスラインレーザー＋　サーボ二台</a:t>
            </a: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99BF0E3D-94E4-76AE-EA28-450E29AC7E8D}"/>
              </a:ext>
            </a:extLst>
          </p:cNvPr>
          <p:cNvCxnSpPr>
            <a:cxnSpLocks/>
            <a:stCxn id="13" idx="2"/>
            <a:endCxn id="26" idx="0"/>
          </p:cNvCxnSpPr>
          <p:nvPr/>
        </p:nvCxnSpPr>
        <p:spPr>
          <a:xfrm>
            <a:off x="5690348" y="3024681"/>
            <a:ext cx="0" cy="275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3C05C70F-CB1D-3799-A965-83F1598C0E29}"/>
              </a:ext>
            </a:extLst>
          </p:cNvPr>
          <p:cNvCxnSpPr>
            <a:cxnSpLocks/>
            <a:stCxn id="26" idx="2"/>
            <a:endCxn id="28" idx="0"/>
          </p:cNvCxnSpPr>
          <p:nvPr/>
        </p:nvCxnSpPr>
        <p:spPr>
          <a:xfrm>
            <a:off x="5690348" y="3943297"/>
            <a:ext cx="0" cy="367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A0BA8904-9C82-27AD-6EFC-9EDE27BF7F12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>
            <a:off x="5690348" y="4954014"/>
            <a:ext cx="5787" cy="344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30265F05-3454-12D3-E038-C6B74FCE80A4}"/>
              </a:ext>
            </a:extLst>
          </p:cNvPr>
          <p:cNvCxnSpPr>
            <a:cxnSpLocks/>
            <a:stCxn id="33" idx="3"/>
            <a:endCxn id="13" idx="1"/>
          </p:cNvCxnSpPr>
          <p:nvPr/>
        </p:nvCxnSpPr>
        <p:spPr>
          <a:xfrm>
            <a:off x="4236151" y="2702912"/>
            <a:ext cx="7270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DFD15FBF-D6A9-A81D-405D-E51C023D585E}"/>
              </a:ext>
            </a:extLst>
          </p:cNvPr>
          <p:cNvSpPr/>
          <p:nvPr/>
        </p:nvSpPr>
        <p:spPr>
          <a:xfrm>
            <a:off x="4658667" y="2254687"/>
            <a:ext cx="2069881" cy="2872202"/>
          </a:xfrm>
          <a:prstGeom prst="roundRect">
            <a:avLst>
              <a:gd name="adj" fmla="val 12831"/>
            </a:avLst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2A6FA265-82BC-644B-9906-C14C5EEF2603}"/>
              </a:ext>
            </a:extLst>
          </p:cNvPr>
          <p:cNvCxnSpPr>
            <a:stCxn id="37" idx="2"/>
            <a:endCxn id="35" idx="0"/>
          </p:cNvCxnSpPr>
          <p:nvPr/>
        </p:nvCxnSpPr>
        <p:spPr>
          <a:xfrm>
            <a:off x="1327755" y="1887283"/>
            <a:ext cx="0" cy="471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22515384-26F4-6B5F-8A26-BD31286AD424}"/>
              </a:ext>
            </a:extLst>
          </p:cNvPr>
          <p:cNvCxnSpPr>
            <a:cxnSpLocks/>
            <a:stCxn id="35" idx="3"/>
            <a:endCxn id="33" idx="1"/>
          </p:cNvCxnSpPr>
          <p:nvPr/>
        </p:nvCxnSpPr>
        <p:spPr>
          <a:xfrm>
            <a:off x="2054854" y="2680502"/>
            <a:ext cx="727099" cy="22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22B22480-5C27-564D-2252-D4634A844FE3}"/>
              </a:ext>
            </a:extLst>
          </p:cNvPr>
          <p:cNvCxnSpPr>
            <a:cxnSpLocks/>
            <a:stCxn id="39" idx="3"/>
            <a:endCxn id="33" idx="1"/>
          </p:cNvCxnSpPr>
          <p:nvPr/>
        </p:nvCxnSpPr>
        <p:spPr>
          <a:xfrm flipV="1">
            <a:off x="2054854" y="2702912"/>
            <a:ext cx="727099" cy="724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250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12BD6A2-2351-4A26-856F-4E5424368344}"/>
              </a:ext>
            </a:extLst>
          </p:cNvPr>
          <p:cNvSpPr/>
          <p:nvPr/>
        </p:nvSpPr>
        <p:spPr>
          <a:xfrm>
            <a:off x="2885440" y="3088640"/>
            <a:ext cx="4206240" cy="172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5DB2DE7-B8AE-B39D-ACD0-18417924D054}"/>
              </a:ext>
            </a:extLst>
          </p:cNvPr>
          <p:cNvSpPr/>
          <p:nvPr/>
        </p:nvSpPr>
        <p:spPr>
          <a:xfrm>
            <a:off x="2956560" y="3261360"/>
            <a:ext cx="132080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0CC6DEB-BD06-B76C-9554-7B4D1EF5DF8B}"/>
              </a:ext>
            </a:extLst>
          </p:cNvPr>
          <p:cNvSpPr/>
          <p:nvPr/>
        </p:nvSpPr>
        <p:spPr>
          <a:xfrm>
            <a:off x="6903720" y="3261360"/>
            <a:ext cx="132080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グラフィックス 4" descr="ブーツ 単色塗りつぶし">
            <a:extLst>
              <a:ext uri="{FF2B5EF4-FFF2-40B4-BE49-F238E27FC236}">
                <a16:creationId xmlns:a16="http://schemas.microsoft.com/office/drawing/2014/main" id="{2ADAAC77-09C4-274B-91BA-48978EBABD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72560" y="1473201"/>
            <a:ext cx="2123440" cy="212344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E6F9EA4-1F39-8FD8-1D66-D784E6BF0954}"/>
              </a:ext>
            </a:extLst>
          </p:cNvPr>
          <p:cNvSpPr/>
          <p:nvPr/>
        </p:nvSpPr>
        <p:spPr>
          <a:xfrm>
            <a:off x="5288281" y="4551720"/>
            <a:ext cx="1615438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C9C0234-767D-4B35-251C-5B53E229D8C9}"/>
              </a:ext>
            </a:extLst>
          </p:cNvPr>
          <p:cNvSpPr/>
          <p:nvPr/>
        </p:nvSpPr>
        <p:spPr>
          <a:xfrm>
            <a:off x="4704080" y="4358640"/>
            <a:ext cx="584201" cy="27432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4183F5F-44FA-A836-C7BD-A5E80E934C32}"/>
              </a:ext>
            </a:extLst>
          </p:cNvPr>
          <p:cNvSpPr txBox="1"/>
          <p:nvPr/>
        </p:nvSpPr>
        <p:spPr>
          <a:xfrm>
            <a:off x="4557598" y="43111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カメラ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437CECC-6B47-449E-6EC7-A97408E147AE}"/>
              </a:ext>
            </a:extLst>
          </p:cNvPr>
          <p:cNvSpPr/>
          <p:nvPr/>
        </p:nvSpPr>
        <p:spPr>
          <a:xfrm rot="19798343">
            <a:off x="6654258" y="4299682"/>
            <a:ext cx="132080" cy="3218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EC225D9-EB6E-B427-0583-FADFB062A303}"/>
              </a:ext>
            </a:extLst>
          </p:cNvPr>
          <p:cNvSpPr txBox="1"/>
          <p:nvPr/>
        </p:nvSpPr>
        <p:spPr>
          <a:xfrm>
            <a:off x="6003473" y="521208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ラインレーザー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インク 10">
                <a:extLst>
                  <a:ext uri="{FF2B5EF4-FFF2-40B4-BE49-F238E27FC236}">
                    <a16:creationId xmlns:a16="http://schemas.microsoft.com/office/drawing/2014/main" id="{65F8497B-5D1A-B59D-BCD0-6F6523C39E97}"/>
                  </a:ext>
                </a:extLst>
              </p14:cNvPr>
              <p14:cNvContentPartPr/>
              <p14:nvPr/>
            </p14:nvContentPartPr>
            <p14:xfrm>
              <a:off x="6775880" y="4551720"/>
              <a:ext cx="72720" cy="700200"/>
            </p14:xfrm>
          </p:contentPart>
        </mc:Choice>
        <mc:Fallback>
          <p:pic>
            <p:nvPicPr>
              <p:cNvPr id="11" name="インク 10">
                <a:extLst>
                  <a:ext uri="{FF2B5EF4-FFF2-40B4-BE49-F238E27FC236}">
                    <a16:creationId xmlns:a16="http://schemas.microsoft.com/office/drawing/2014/main" id="{65F8497B-5D1A-B59D-BCD0-6F6523C39E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69730" y="4545600"/>
                <a:ext cx="85021" cy="71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インク 11">
                <a:extLst>
                  <a:ext uri="{FF2B5EF4-FFF2-40B4-BE49-F238E27FC236}">
                    <a16:creationId xmlns:a16="http://schemas.microsoft.com/office/drawing/2014/main" id="{BD16ABA1-F527-C266-9180-2D819C745B83}"/>
                  </a:ext>
                </a:extLst>
              </p14:cNvPr>
              <p14:cNvContentPartPr/>
              <p14:nvPr/>
            </p14:nvContentPartPr>
            <p14:xfrm>
              <a:off x="5150480" y="3240600"/>
              <a:ext cx="1473480" cy="1077480"/>
            </p14:xfrm>
          </p:contentPart>
        </mc:Choice>
        <mc:Fallback>
          <p:pic>
            <p:nvPicPr>
              <p:cNvPr id="12" name="インク 11">
                <a:extLst>
                  <a:ext uri="{FF2B5EF4-FFF2-40B4-BE49-F238E27FC236}">
                    <a16:creationId xmlns:a16="http://schemas.microsoft.com/office/drawing/2014/main" id="{BD16ABA1-F527-C266-9180-2D819C745B8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44360" y="3234480"/>
                <a:ext cx="1485720" cy="108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8525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111</Words>
  <Application>Microsoft Office PowerPoint</Application>
  <PresentationFormat>ワイド画面</PresentationFormat>
  <Paragraphs>51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游ゴシック</vt:lpstr>
      <vt:lpstr>游ゴシック Light</vt:lpstr>
      <vt:lpstr>Arial</vt:lpstr>
      <vt:lpstr>Cambria Math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4415_川野 菜の春_北九州</dc:creator>
  <cp:lastModifiedBy>5415_川野 菜の春_北九州</cp:lastModifiedBy>
  <cp:revision>5</cp:revision>
  <dcterms:created xsi:type="dcterms:W3CDTF">2025-11-28T10:25:12Z</dcterms:created>
  <dcterms:modified xsi:type="dcterms:W3CDTF">2026-08-06T08:34:20Z</dcterms:modified>
</cp:coreProperties>
</file>